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SIEMENS DATA SCIENCE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8E6D5"/>
                </a:solidFill>
                <a:latin typeface="Aptos"/>
              </a:defRPr>
            </a:pPr>
            <a:r>
              <a:t>VIRTUAL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Akshita Yadav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Roll Number: 2410031596  |  Section: 3CSE12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B.Tech (CSE)  |  IILM University, Greater Noida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June 2026 – August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154680"/>
            <a:ext cx="3474720" cy="1097280"/>
          </a:xfrm>
          <a:prstGeom prst="roundRect">
            <a:avLst/>
          </a:prstGeom>
          <a:solidFill>
            <a:srgbClr val="143E5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PROGRAM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AICTE – EduSkills Virtual Internship Program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4480560"/>
            <a:ext cx="3474720" cy="914400"/>
          </a:xfrm>
          <a:prstGeom prst="roundRect">
            <a:avLst/>
          </a:prstGeom>
          <a:solidFill>
            <a:srgbClr val="143E5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DURATION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8-Week Virtual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303520" cy="105156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Program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AICTE – EduSkills Virtual Internship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03520" cy="105156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Domain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Siemens Data Science Master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60320"/>
            <a:ext cx="5303520" cy="105156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Duration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8 Weeks | June – August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5303520" cy="105156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Mode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Virtual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86200"/>
            <a:ext cx="5303520" cy="105156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Institution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86200"/>
            <a:ext cx="5303520" cy="105156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Core Focus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Data Science, Data Engineering, Machine Learning, Data Preparation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Internship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B33"/>
                </a:solidFill>
                <a:latin typeface="Aptos"/>
              </a:defRPr>
            </a:pPr>
            <a:r>
              <a:t>• Understand fundamental concepts and applications of Data Science.</a:t>
            </a:r>
          </a:p>
          <a:p>
            <a:pPr>
              <a:spcAft>
                <a:spcPts val="1000"/>
              </a:spcAft>
              <a:defRPr sz="1600">
                <a:solidFill>
                  <a:srgbClr val="202B33"/>
                </a:solidFill>
                <a:latin typeface="Aptos"/>
              </a:defRPr>
            </a:pPr>
            <a:r>
              <a:t>• Identify problems that can be addressed using AI and Machine Learning.</a:t>
            </a:r>
          </a:p>
          <a:p>
            <a:pPr>
              <a:spcAft>
                <a:spcPts val="1000"/>
              </a:spcAft>
              <a:defRPr sz="1600">
                <a:solidFill>
                  <a:srgbClr val="202B33"/>
                </a:solidFill>
                <a:latin typeface="Aptos"/>
              </a:defRPr>
            </a:pPr>
            <a:r>
              <a:t>• Understand data access, loading, transformation and preparation.</a:t>
            </a:r>
          </a:p>
          <a:p>
            <a:pPr>
              <a:spcAft>
                <a:spcPts val="1000"/>
              </a:spcAft>
              <a:defRPr sz="1600">
                <a:solidFill>
                  <a:srgbClr val="202B33"/>
                </a:solidFill>
                <a:latin typeface="Aptos"/>
              </a:defRPr>
            </a:pPr>
            <a:r>
              <a:t>• Develop foundational and advanced Machine Learning knowledge.</a:t>
            </a:r>
          </a:p>
          <a:p>
            <a:pPr>
              <a:spcAft>
                <a:spcPts val="1000"/>
              </a:spcAft>
              <a:defRPr sz="1600">
                <a:solidFill>
                  <a:srgbClr val="202B33"/>
                </a:solidFill>
                <a:latin typeface="Aptos"/>
              </a:defRPr>
            </a:pPr>
            <a:r>
              <a:t>• Understand model deployment, monitoring and platform administration.</a:t>
            </a:r>
          </a:p>
          <a:p>
            <a:pPr>
              <a:spcAft>
                <a:spcPts val="1000"/>
              </a:spcAft>
              <a:defRPr sz="1600">
                <a:solidFill>
                  <a:srgbClr val="202B33"/>
                </a:solidFill>
                <a:latin typeface="Aptos"/>
              </a:defRPr>
            </a:pPr>
            <a:r>
              <a:t>• Develop industry-relevant technical, analytical and problem-solving skills.</a:t>
            </a:r>
          </a:p>
          <a:p>
            <a:pPr>
              <a:spcAft>
                <a:spcPts val="1000"/>
              </a:spcAft>
              <a:defRPr sz="1600">
                <a:solidFill>
                  <a:srgbClr val="202B33"/>
                </a:solidFill>
                <a:latin typeface="Aptos"/>
              </a:defRPr>
            </a:pPr>
            <a:r>
              <a:t>• Complete weekly assessments and final credential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Internship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B2D4D"/>
                </a:solidFill>
                <a:latin typeface="Aptos"/>
              </a:defRPr>
            </a:pPr>
            <a:r>
              <a:t>How can raw data be transformed into meaningful information for decision-making and intelligent applications?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E9F4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THE CHALLENGE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Organizations generate large volumes of data from different sources. The key is to transform this data into useful information and intelligent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463040" cy="73152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43159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B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4160520"/>
            <a:ext cx="1463040" cy="73152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43159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B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31336" y="4160520"/>
            <a:ext cx="1463040" cy="73152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43159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B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95544" y="4160520"/>
            <a:ext cx="1463040" cy="73152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43159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B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59752" y="4160520"/>
            <a:ext cx="1463040" cy="73152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3159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B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4160520"/>
            <a:ext cx="1463040" cy="73152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5288" y="43159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B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88168" y="4160520"/>
            <a:ext cx="1463040" cy="73152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Technologies &amp; Concepts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297180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Data Science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Data processing, analysis, ML and domain knowledge.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188720"/>
            <a:ext cx="297180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Data Engineering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Accessing, loading, transforming and preparing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188720"/>
            <a:ext cx="297180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Machine Learning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Models, workflows, prediction and 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297180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Data Preparation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Organizing and transforming raw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2743200"/>
            <a:ext cx="297180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AI Applications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AI/ML for business and real-world problems.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743200"/>
            <a:ext cx="297180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Deployment &amp; Monitoring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Concepts for deploying and monitoring ML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4297680"/>
            <a:ext cx="297180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Platform Administration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Configuration and management with exposure to RapidMiner AI Hub.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Data Science Workflow /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097280"/>
            <a:ext cx="5349240" cy="393192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B2D4D"/>
                </a:solidFill>
                <a:latin typeface="Aptos"/>
              </a:defRPr>
            </a:pPr>
            <a:r>
              <a:t>Business Problem Identification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72768"/>
            <a:ext cx="5349240" cy="393192"/>
          </a:xfrm>
          <a:prstGeom prst="roundRect">
            <a:avLst/>
          </a:prstGeom>
          <a:solidFill>
            <a:srgbClr val="E9F4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B2D4D"/>
                </a:solidFill>
                <a:latin typeface="Aptos"/>
              </a:defRPr>
            </a:pPr>
            <a:r>
              <a:t>Data Access &amp; Collection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48256"/>
            <a:ext cx="5349240" cy="393192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B2D4D"/>
                </a:solidFill>
                <a:latin typeface="Aptos"/>
              </a:defRPr>
            </a:pPr>
            <a:r>
              <a:t>Data Loading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523744"/>
            <a:ext cx="5349240" cy="393192"/>
          </a:xfrm>
          <a:prstGeom prst="roundRect">
            <a:avLst/>
          </a:prstGeom>
          <a:solidFill>
            <a:srgbClr val="E9F4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B2D4D"/>
                </a:solidFill>
                <a:latin typeface="Aptos"/>
              </a:defRPr>
            </a:pPr>
            <a:r>
              <a:t>Data Transformation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999232"/>
            <a:ext cx="5349240" cy="393192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B2D4D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474720"/>
            <a:ext cx="5349240" cy="393192"/>
          </a:xfrm>
          <a:prstGeom prst="roundRect">
            <a:avLst/>
          </a:prstGeom>
          <a:solidFill>
            <a:srgbClr val="E9F4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B2D4D"/>
                </a:solidFill>
                <a:latin typeface="Aptos"/>
              </a:defRPr>
            </a:pPr>
            <a:r>
              <a:t>ML Model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950208"/>
            <a:ext cx="5349240" cy="393192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B2D4D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425696"/>
            <a:ext cx="5349240" cy="393192"/>
          </a:xfrm>
          <a:prstGeom prst="roundRect">
            <a:avLst/>
          </a:prstGeom>
          <a:solidFill>
            <a:srgbClr val="E9F4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B2D4D"/>
                </a:solidFill>
                <a:latin typeface="Aptos"/>
              </a:defRPr>
            </a:pPr>
            <a:r>
              <a:t>Model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901183"/>
            <a:ext cx="5349240" cy="393192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B2D4D"/>
                </a:solidFill>
                <a:latin typeface="Aptos"/>
              </a:defRPr>
            </a:pPr>
            <a:r>
              <a:t>Model Monitoring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5376671"/>
            <a:ext cx="5349240" cy="393192"/>
          </a:xfrm>
          <a:prstGeom prst="roundRect">
            <a:avLst/>
          </a:prstGeom>
          <a:solidFill>
            <a:srgbClr val="E9F4FA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B2D4D"/>
                </a:solidFill>
                <a:latin typeface="Aptos"/>
              </a:defRPr>
            </a:pPr>
            <a:r>
              <a:t>Application / Business Use 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Week-Wise Internship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207008" cy="2971800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9B77"/>
                </a:solidFill>
                <a:latin typeface="Aptos"/>
              </a:defRPr>
            </a:pPr>
            <a:r>
              <a:t>WEEK 1</a:t>
            </a:r>
          </a:p>
          <a:p>
            <a:pPr algn="ctr">
              <a:defRPr sz="1000">
                <a:solidFill>
                  <a:srgbClr val="0B2D4D"/>
                </a:solidFill>
                <a:latin typeface="Aptos"/>
              </a:defRPr>
            </a:pPr>
            <a:r>
              <a:t>Applications &amp; Use Cases</a:t>
            </a:r>
            <a:br/>
            <a:r>
              <a:t>Professional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828800"/>
            <a:ext cx="1207008" cy="2971800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9B77"/>
                </a:solidFill>
                <a:latin typeface="Aptos"/>
              </a:defRPr>
            </a:pPr>
            <a:r>
              <a:t>WEEK 2</a:t>
            </a:r>
          </a:p>
          <a:p>
            <a:pPr algn="ctr">
              <a:defRPr sz="1000">
                <a:solidFill>
                  <a:srgbClr val="0B2D4D"/>
                </a:solidFill>
                <a:latin typeface="Aptos"/>
              </a:defRPr>
            </a:pPr>
            <a:r>
              <a:t>Data Engineering</a:t>
            </a:r>
            <a:br/>
            <a:r>
              <a:t>Professional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28800"/>
            <a:ext cx="1207008" cy="2971800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9B77"/>
                </a:solidFill>
                <a:latin typeface="Aptos"/>
              </a:defRPr>
            </a:pPr>
            <a:r>
              <a:t>WEEK 3</a:t>
            </a:r>
          </a:p>
          <a:p>
            <a:pPr algn="ctr">
              <a:defRPr sz="1000">
                <a:solidFill>
                  <a:srgbClr val="0B2D4D"/>
                </a:solidFill>
                <a:latin typeface="Aptos"/>
              </a:defRPr>
            </a:pPr>
            <a:r>
              <a:t>Machine Learning</a:t>
            </a:r>
            <a:br/>
            <a:r>
              <a:t>Professional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1207008" cy="2971800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9B77"/>
                </a:solidFill>
                <a:latin typeface="Aptos"/>
              </a:defRPr>
            </a:pPr>
            <a:r>
              <a:t>WEEK 4</a:t>
            </a:r>
          </a:p>
          <a:p>
            <a:pPr algn="ctr">
              <a:defRPr sz="1000">
                <a:solidFill>
                  <a:srgbClr val="0B2D4D"/>
                </a:solidFill>
                <a:latin typeface="Aptos"/>
              </a:defRPr>
            </a:pPr>
            <a:r>
              <a:t>Data Preparation</a:t>
            </a:r>
            <a:br/>
            <a:r>
              <a:t>Master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828800"/>
            <a:ext cx="1207008" cy="2971800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9B77"/>
                </a:solidFill>
                <a:latin typeface="Aptos"/>
              </a:defRPr>
            </a:pPr>
            <a:r>
              <a:t>WEEK 5</a:t>
            </a:r>
          </a:p>
          <a:p>
            <a:pPr algn="ctr">
              <a:defRPr sz="1000">
                <a:solidFill>
                  <a:srgbClr val="0B2D4D"/>
                </a:solidFill>
                <a:latin typeface="Aptos"/>
              </a:defRPr>
            </a:pPr>
            <a:r>
              <a:t>Machine Learning</a:t>
            </a:r>
            <a:br/>
            <a:r>
              <a:t>Master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828800"/>
            <a:ext cx="1207008" cy="2971800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9B77"/>
                </a:solidFill>
                <a:latin typeface="Aptos"/>
              </a:defRPr>
            </a:pPr>
            <a:r>
              <a:t>WEEK 6</a:t>
            </a:r>
          </a:p>
          <a:p>
            <a:pPr algn="ctr">
              <a:defRPr sz="1000">
                <a:solidFill>
                  <a:srgbClr val="0B2D4D"/>
                </a:solidFill>
                <a:latin typeface="Aptos"/>
              </a:defRPr>
            </a:pPr>
            <a:r>
              <a:t>Applications &amp; Use Cases</a:t>
            </a:r>
            <a:br/>
            <a:r>
              <a:t>Master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1207008" cy="2971800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9B77"/>
                </a:solidFill>
                <a:latin typeface="Aptos"/>
              </a:defRPr>
            </a:pPr>
            <a:r>
              <a:t>WEEK 7</a:t>
            </a:r>
          </a:p>
          <a:p>
            <a:pPr algn="ctr">
              <a:defRPr sz="1000">
                <a:solidFill>
                  <a:srgbClr val="0B2D4D"/>
                </a:solidFill>
                <a:latin typeface="Aptos"/>
              </a:defRPr>
            </a:pPr>
            <a:r>
              <a:t>Platform Administration</a:t>
            </a:r>
            <a:br/>
            <a:r>
              <a:t>Master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1828800"/>
            <a:ext cx="1207008" cy="2971800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9B77"/>
                </a:solidFill>
                <a:latin typeface="Aptos"/>
              </a:defRPr>
            </a:pPr>
            <a:r>
              <a:t>WEEK 8</a:t>
            </a:r>
          </a:p>
          <a:p>
            <a:pPr algn="ctr">
              <a:defRPr sz="1000">
                <a:solidFill>
                  <a:srgbClr val="0B2D4D"/>
                </a:solidFill>
                <a:latin typeface="Aptos"/>
              </a:defRPr>
            </a:pPr>
            <a:r>
              <a:t>Platform Administration</a:t>
            </a:r>
            <a:br/>
            <a:r>
              <a:t>Master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98480" y="1828800"/>
            <a:ext cx="1417320" cy="2971800"/>
          </a:xfrm>
          <a:prstGeom prst="roundRect">
            <a:avLst/>
          </a:prstGeom>
          <a:solidFill>
            <a:srgbClr val="F3F6F8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9B77"/>
                </a:solidFill>
                <a:latin typeface="Aptos"/>
              </a:defRPr>
            </a:pPr>
            <a:r>
              <a:t>WEEK FINAL</a:t>
            </a:r>
          </a:p>
          <a:p>
            <a:pPr algn="ctr">
              <a:defRPr sz="1000">
                <a:solidFill>
                  <a:srgbClr val="0B2D4D"/>
                </a:solidFill>
                <a:latin typeface="Aptos"/>
              </a:defRPr>
            </a:pPr>
            <a:r>
              <a:t>Credential Validation /</a:t>
            </a:r>
            <a:br/>
            <a:r>
              <a:t>Grade Point Assessment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Learning &amp; Practical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02B33"/>
                </a:solidFill>
                <a:latin typeface="Aptos"/>
              </a:defRPr>
            </a:pPr>
            <a:r>
              <a:t>• Identifying AI and Machine Learning problems.</a:t>
            </a:r>
          </a:p>
          <a:p>
            <a:pPr>
              <a:spcAft>
                <a:spcPts val="1000"/>
              </a:spcAft>
              <a:defRPr sz="1700">
                <a:solidFill>
                  <a:srgbClr val="202B33"/>
                </a:solidFill>
                <a:latin typeface="Aptos"/>
              </a:defRPr>
            </a:pPr>
            <a:r>
              <a:t>• Working with data access, loading and transformation.</a:t>
            </a:r>
          </a:p>
          <a:p>
            <a:pPr>
              <a:spcAft>
                <a:spcPts val="1000"/>
              </a:spcAft>
              <a:defRPr sz="1700">
                <a:solidFill>
                  <a:srgbClr val="202B33"/>
                </a:solidFill>
                <a:latin typeface="Aptos"/>
              </a:defRPr>
            </a:pPr>
            <a:r>
              <a:t>• Understanding data preparation and handling techniques.</a:t>
            </a:r>
          </a:p>
          <a:p>
            <a:pPr>
              <a:spcAft>
                <a:spcPts val="1000"/>
              </a:spcAft>
              <a:defRPr sz="1700">
                <a:solidFill>
                  <a:srgbClr val="202B33"/>
                </a:solidFill>
                <a:latin typeface="Aptos"/>
              </a:defRPr>
            </a:pPr>
            <a:r>
              <a:t>• Learning foundational and advanced Machine Learning concepts.</a:t>
            </a:r>
          </a:p>
          <a:p>
            <a:pPr>
              <a:spcAft>
                <a:spcPts val="1000"/>
              </a:spcAft>
              <a:defRPr sz="1700">
                <a:solidFill>
                  <a:srgbClr val="202B33"/>
                </a:solidFill>
                <a:latin typeface="Aptos"/>
              </a:defRPr>
            </a:pPr>
            <a:r>
              <a:t>• Understanding AI/ML applications, deployment and monitoring.</a:t>
            </a:r>
          </a:p>
          <a:p>
            <a:pPr>
              <a:spcAft>
                <a:spcPts val="1000"/>
              </a:spcAft>
              <a:defRPr sz="1700">
                <a:solidFill>
                  <a:srgbClr val="202B33"/>
                </a:solidFill>
                <a:latin typeface="Aptos"/>
              </a:defRPr>
            </a:pPr>
            <a:r>
              <a:t>• Gaining exposure to RapidMiner AI Hub and enterprise AI environments.</a:t>
            </a:r>
          </a:p>
          <a:p>
            <a:pPr>
              <a:spcAft>
                <a:spcPts val="1000"/>
              </a:spcAft>
              <a:defRPr sz="1700">
                <a:solidFill>
                  <a:srgbClr val="202B33"/>
                </a:solidFill>
                <a:latin typeface="Aptos"/>
              </a:defRPr>
            </a:pPr>
            <a:r>
              <a:t>• Progressing from professional-level to master-level modules.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Certifications &amp;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2194560"/>
          </a:xfrm>
          <a:prstGeom prst="roundRect">
            <a:avLst/>
          </a:prstGeom>
          <a:solidFill>
            <a:srgbClr val="E9F4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PROFESSIONAL CERTIFICATIONS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Applications &amp; Use Cases Professional</a:t>
            </a:r>
            <a:br/>
            <a:r>
              <a:t>Data Engineering Professional</a:t>
            </a:r>
            <a:br/>
            <a:r>
              <a:t>Machine Learning Professional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12080" cy="2194560"/>
          </a:xfrm>
          <a:prstGeom prst="roundRect">
            <a:avLst/>
          </a:prstGeom>
          <a:solidFill>
            <a:srgbClr val="E8F5F0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MASTER CERTIFICATIONS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Data Engineering Master</a:t>
            </a:r>
            <a:br/>
            <a:r>
              <a:t>Machine Learning Master</a:t>
            </a:r>
            <a:br/>
            <a:r>
              <a:t>Applications &amp; Use Cases Master</a:t>
            </a:r>
            <a:br/>
            <a:r>
              <a:t>Platform Administration Master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4160520"/>
            <a:ext cx="8001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COMPLETION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Final Credential Validation / Internship Grade Point Assessment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Skills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425196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TECHNICAL SKILLS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Data Science</a:t>
            </a:r>
            <a:br/>
            <a:r>
              <a:t>Data Engineering</a:t>
            </a:r>
            <a:br/>
            <a:r>
              <a:t>Machine Learning</a:t>
            </a:r>
            <a:br/>
            <a:r>
              <a:t>Data Preparation</a:t>
            </a:r>
            <a:br/>
            <a:r>
              <a:t>AI Applications</a:t>
            </a:r>
            <a:br/>
            <a:r>
              <a:t>Model Deployment &amp; Monitoring</a:t>
            </a:r>
            <a:br/>
            <a:r>
              <a:t>Platform Administration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88720"/>
            <a:ext cx="5212080" cy="425196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PROFESSIONAL SKILLS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Analytical Thinking</a:t>
            </a:r>
            <a:br/>
            <a:r>
              <a:t>Problem Solving</a:t>
            </a:r>
            <a:br/>
            <a:r>
              <a:t>Self-Learning</a:t>
            </a:r>
            <a:br/>
            <a:r>
              <a:t>Time Management</a:t>
            </a:r>
            <a:br/>
            <a:r>
              <a:t>Technical Documentation</a:t>
            </a:r>
            <a:br/>
            <a:r>
              <a:t>Assessment Preparation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Challenges &amp; Learning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0698480" cy="1234440"/>
          </a:xfrm>
          <a:prstGeom prst="roundRect">
            <a:avLst/>
          </a:prstGeom>
          <a:solidFill>
            <a:srgbClr val="E9F4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CHALLENGE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Understanding how Data Engineering, Data Preparation, Machine Learning, Deployment, Monitoring and Platform Management connect.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516636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LEARNING APPROACH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The progressive week-wise structure helped connect concepts effectively.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166360" cy="1234440"/>
          </a:xfrm>
          <a:prstGeom prst="roundRect">
            <a:avLst/>
          </a:prstGeom>
          <a:solidFill>
            <a:srgbClr val="F3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PROGRESSION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Professional modules built foundations; master modules introduced advanced topics.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434840"/>
            <a:ext cx="850392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KEY TAKEAWAY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A structured workflow connects individual technical concepts into an end-to-end Data Science process.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D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57C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5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394960" cy="1828800"/>
          </a:xfrm>
          <a:prstGeom prst="roundRect">
            <a:avLst/>
          </a:prstGeom>
          <a:solidFill>
            <a:srgbClr val="E9F4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CONCLUSION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The internship provided structured understanding of Data Science, Data Engineering, Machine Learning, AI Applications, Deployment, Monitoring and Platform Administration.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1828800"/>
          </a:xfrm>
          <a:prstGeom prst="roundRect">
            <a:avLst/>
          </a:prstGeom>
          <a:solidFill>
            <a:srgbClr val="E8F5F0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2D4D"/>
                </a:solidFill>
                <a:latin typeface="Aptos Display"/>
              </a:defRPr>
            </a:pPr>
            <a:r>
              <a:t>FUTURE SCOPE</a:t>
            </a:r>
          </a:p>
          <a:p>
            <a:pPr>
              <a:defRPr sz="1250">
                <a:solidFill>
                  <a:srgbClr val="202B33"/>
                </a:solidFill>
                <a:latin typeface="Aptos"/>
              </a:defRPr>
            </a:pPr>
            <a:r>
              <a:t>Advanced Machine Learning, Deep Learning, real-world datasets, cloud platforms, MLOps, Big Data and AI-powered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886200"/>
            <a:ext cx="5029200" cy="1097280"/>
          </a:xfrm>
          <a:prstGeom prst="round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2578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2D4D"/>
                </a:solidFill>
                <a:latin typeface="Aptos"/>
              </a:defRPr>
            </a:pPr>
            <a:r>
              <a:t>Akshita Yadav  |  2410031596  |  3CSE12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